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5" r:id="rId26"/>
    <p:sldId id="276" r:id="rId27"/>
    <p:sldId id="277" r:id="rId28"/>
    <p:sldId id="278" r:id="rId29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Strategies of Legitimizing Violations of International Law
in Leaders’ Speeches at the United Nations General Assembly
(1945–2023)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Calibri"/>
              </a:rPr>
              <a:t>Thesis Paper  |  Ayvazyan Aram  |  4th year, Group 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Supervisor: Ivan Pavlyutkin, Candidate of Science in Sociology, Associate Professor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HSE University  |  Moscow,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Calibri"/>
              </a:rPr>
              <a:t>Every year, states face allegations of violating international law — yet their leaders return to the UN General Assembly floor to publicly justify those actions before 193 member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The problem is that existing research cannot explain: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which legitimation strategies actually dominate across the full postwar period;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how the repertoire has shifted across historical turning points;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whether geopolitical blocs draw on distinguishable rhetorical approaches.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0000"/>
                </a:solidFill>
                <a:latin typeface="Calibri"/>
              </a:rPr>
              <a:t>This leads to a gap between theoretical claims about deliberative legitimacy and the systematic corpus-based evidence needed to test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Legitimacy matters in IR: 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States do not rely on military power alone — they invest diplomatic resources in constructing public justifications even after decisions are made (Rapp, 2022)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The UNGA General Debate is the primary public arena: 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11,127 speeches, 198 countries, 1946–2023 — genre-stable, universal, on the record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Empirical gap: 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Published research consists of deep vertical case studies (Kosovo 1999, Iraq 2003, Suez 1956). The horizontal view — across states, across time, across violation types — remains unavailable.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This study addresses that gap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with a corpus-based, longitudinal, multi-bloc account of legitimation strategies 1946–2023.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Core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53312"/>
            <a:ext cx="5532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Habermas, J. (1984)  </a:t>
            </a:r>
            <a:r>
              <a:rPr sz="1000" i="0">
                <a:solidFill>
                  <a:srgbClr val="555555"/>
                </a:solidFill>
                <a:latin typeface="Calibri"/>
              </a:rPr>
              <a:t>Theory of communicative action — 4-type typology of social action; validity claims (truth, rightness, sincerity)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Bjola, C. (2005)  </a:t>
            </a:r>
            <a:r>
              <a:rPr sz="1000" i="0">
                <a:solidFill>
                  <a:srgbClr val="555555"/>
                </a:solidFill>
                <a:latin typeface="Calibri"/>
              </a:rPr>
              <a:t>Deliberative legitimacy at the UNGA; communicative action → justification of force (Kosovo, Iraq)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Risse, T. (2000)  </a:t>
            </a:r>
            <a:r>
              <a:rPr sz="1000" i="0">
                <a:solidFill>
                  <a:srgbClr val="555555"/>
                </a:solidFill>
                <a:latin typeface="Calibri"/>
              </a:rPr>
              <a:t>"Let's argue!": logic of arguing as third mode of social interaction in IR; arguing vs. bargaining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Müller, H. (2004)  </a:t>
            </a:r>
            <a:r>
              <a:rPr sz="1000" i="0">
                <a:solidFill>
                  <a:srgbClr val="555555"/>
                </a:solidFill>
                <a:latin typeface="Calibri"/>
              </a:rPr>
              <a:t>Communicative rationality and appropriateness logic in multilateral institutions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Franck, T. M. (1990)  </a:t>
            </a:r>
            <a:r>
              <a:rPr sz="1000" i="0">
                <a:solidFill>
                  <a:srgbClr val="555555"/>
                </a:solidFill>
                <a:latin typeface="Calibri"/>
              </a:rPr>
              <a:t>Compliance pull of legitimate rules — legitimacy as measurable property of norms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Hurd, I. (1999)  </a:t>
            </a:r>
            <a:r>
              <a:rPr sz="1000" i="0">
                <a:solidFill>
                  <a:srgbClr val="555555"/>
                </a:solidFill>
                <a:latin typeface="Calibri"/>
              </a:rPr>
              <a:t>Legitimacy as normative belief — third mechanism of social control alongside coercion and interest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Wiener, A. (2014)  </a:t>
            </a:r>
            <a:r>
              <a:rPr sz="1000" i="0">
                <a:solidFill>
                  <a:srgbClr val="555555"/>
                </a:solidFill>
                <a:latin typeface="Calibri"/>
              </a:rPr>
              <a:t>Contestation as norm-generative practice — legitimation repertoires evolve through challenge and justification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Rapp, K. (2022)  </a:t>
            </a:r>
            <a:r>
              <a:rPr sz="1000" i="0">
                <a:solidFill>
                  <a:srgbClr val="555555"/>
                </a:solidFill>
                <a:latin typeface="Calibri"/>
              </a:rPr>
              <a:t>Justifying force through international law — actors feel compelled to portray conduct as legal even when tenuous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Baturo et al. (2017);
Jankin et al. (2025)  </a:t>
            </a:r>
            <a:r>
              <a:rPr sz="1000" i="0">
                <a:solidFill>
                  <a:srgbClr val="555555"/>
                </a:solidFill>
                <a:latin typeface="Calibri"/>
              </a:rPr>
              <a:t>Harvard UN General Debate Corpus — 11,127 speeches, 198 countries, 1946–2023</a:t>
            </a:r>
          </a:p>
          <a:p>
            <a:pPr>
              <a:spcAft>
                <a:spcPts val="100"/>
              </a:spcAft>
            </a:pPr>
            <a:r>
              <a:rPr sz="400"/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Full Reference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53312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Baturo, A., Dasandi, N., &amp; Mikhaylov, S. J. (2017). Understanding state preferences with text as data. Research &amp; Politics, 4(2), 1–9.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Bjola, C. (2005). Legitimating the use of force in international politics. EJIR, 11(2), 266–303.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Dinkel, J. (2019). The Non-Aligned Movement: Genesis, Organization and Politics (1927–1992). Brill.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Franck, T. M. (1990). The power of legitimacy among nations. Oxford University Press.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Gronau, J., &amp; Schmidtke, H. (2016). The quest for legitimacy in world politics. Review of International Studies, 42, 535–557.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Haberman, S. J. (1973). The analysis of residuals in cross-classified tables. Biometrics, 29(1), 205–220.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Habermas, J. (1984). The theory of communicative action: Vol. 1. Beacon Press.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Head, N. (2008). Critical theory and its practices: Habermas, Kosovo and IR. Politics, 28(3), 150–159.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Hsieh, H.-F., &amp; Shannon, S. E. (2005). Three approaches to qualitative content analysis. Qualitative Health Research, 15(9), 1277–1288.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Hurd, I. (1999). Legitimacy and authority in international politics. International Organization, 53(2), 379–408.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Jankin, S., Baturo, A., &amp; Dasandi, N. (2025). Words to unite nations: The complete UNGDC. Journal of Peace Research, 62(4), 1339–1351.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Koskenniemi, M. (2005). From apology to utopia (Reissue). Cambridge University Press.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Landis, J. R., &amp; Koch, G. G. (1977). The measurement of observer agreement. Biometrics, 33(1), 159–174.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Müller, H. (2004). Arguing, bargaining and all that. EJIR, 10(3), 395–435.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Prashad, V. (2007). The darker nations: A people's history of the Third World. The New Press.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Rapp, K. (2022). Justifying force: International law and foreign policy decision-making. EJIR, 28(2), 337–360.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Risse, T. (2000). "Let's argue!": Communicative action in world politics. International Organization, 54(1), 1–39.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0000"/>
                </a:solidFill>
                <a:latin typeface="Calibri"/>
              </a:rPr>
              <a:t>Wiener, A. (2014). A Theory of Contestation. Springer.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C00000"/>
                </a:solidFill>
                <a:latin typeface="Calibri"/>
              </a:rPr>
              <a:t>PRIMARY SOURCES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United Nations (1945). Charter of the United Nations.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UNGA (2014). Territorial integrity of Ukraine, A/RES/68/262.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Calibri"/>
              </a:rPr>
              <a:t>UNSC (2001). Threats to peace and security caused by terrorist acts, S/RES/1373(2001).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Main Research Question: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0000"/>
                </a:solidFill>
                <a:latin typeface="Calibri"/>
              </a:rPr>
              <a:t>“What legitimation strategies are employed by state leaders in speeches delivered at the UN General Assembly General Debate to justify conduct alleged to violate international law, from 1946 to 2023?”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Sub-Questions: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SQ1.  Which of the identified strategies occur most frequently across the sampled corpus?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SQ2.  How has the distribution of strategies shifted across historical periods (Cold War → post-9/11 → post-2014)?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SQ3.  Do states from different geopolitical blocs draw on distinguishable legitimation repertoires, or does discourse converge across bloc boundaries?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H1 — Ideational Convergence: 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Post-9/11 counter-terrorism framing increased across ALL geopolitical blocs without statistically significant inter-bloc differentiation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H2 — Repertoire Character: 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Dominant strategies function as normative-legal action in Habermas’s typology (Charter invocations, self-defense claims, sovereignty appeals) — not as strategic evasion or denial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H3 — Temporal Dynamics: 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Strategy distribution shifts across periods: counter-terrorism dominant post-2001, sovereignty-revisionist framing intensifies post-2014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H4 — Geopolitical Variation: 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Western states show significantly lower reliance on normative-legal framing relative to Soviet/Eastern and Non-Aligned states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Object — Subject —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6304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UNGA General Debate speeches in which a state leader addresses conduct facing documented external allegation of legal or normative violation
(11,127 speeches, 198 countries, 1946–2023)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Subject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78892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The type, frequency, temporal evolution, and geopolitical differentiation of legitimation strategies deployed in response to allegations of international law violations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411480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To establish empirically which legitimation strategies dominate, how their distribution has shifted across four historical periods, and whether Cold War bloc membership predicts systematic divergence in rhetorical register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Research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463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UNGA General Debate Corpus (Harvard UNGDC): 11,127 speeches, 198 countries, 1946–2023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Distribution, evolution, and geopolitical differentiation of legitimation strategy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Habermas (1984) theory of communicative action; directed qualitative content analysis (Hsieh &amp; Shannon, 2005); IR applications: Risse (2000), Müller (2004), Bjola (2005)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Time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Four periods: Cold War (1946–89) | Post-CW (1990–2001) | Post-9/11 Security Turn (2002–13) | Post-2014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20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No prior study combines 77-year corpus breadth, Habermasian theoretical coding, and systematic cross-bloc comparison of legitimation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What is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Level 1: Keyword
Signal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417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Harvard UNGDC
11,127 speeches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173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Normalized keyword density by signal,
bloc, period (hits per 1,000 words)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Level 2:
Directed QCA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86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33 case-years
102 coded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Habermas action type per segment;
co-occurrence of strategy &amp; violation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154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Chi-sq, Fisher exact,
ANOVA, t-tests, CA, V, kappa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154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H1: ANOVA/t-tests | H3: chi-sq/V
H4: Fisher exact/CA | Reliability: kappa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Key formulas:</a:t>
            </a:r>
          </a:p>
        </p:txBody>
      </p:sp>
      <p:pic>
        <p:nvPicPr>
          <p:cNvPr id="17" name="Picture 16" descr="f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3291840" cy="685800"/>
          </a:xfrm>
          <a:prstGeom prst="rect">
            <a:avLst/>
          </a:prstGeom>
        </p:spPr>
      </p:pic>
      <p:pic>
        <p:nvPicPr>
          <p:cNvPr id="18" name="Picture 17" descr="f_ch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343400"/>
            <a:ext cx="3657600" cy="685800"/>
          </a:xfrm>
          <a:prstGeom prst="rect">
            <a:avLst/>
          </a:prstGeom>
        </p:spPr>
      </p:pic>
      <p:pic>
        <p:nvPicPr>
          <p:cNvPr id="19" name="Picture 18" descr="f_cramer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20640"/>
            <a:ext cx="3657600" cy="685800"/>
          </a:xfrm>
          <a:prstGeom prst="rect">
            <a:avLst/>
          </a:prstGeom>
        </p:spPr>
      </p:pic>
      <p:pic>
        <p:nvPicPr>
          <p:cNvPr id="20" name="Picture 19" descr="f_kapp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5120640"/>
            <a:ext cx="2926080" cy="685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Inter-coder reliability target: kappa &gt;= 0.70 (substantial agreement, Landis &amp; Koch 1977)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Structure of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173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Research problem, RQs, hypotheses, design overview,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Ch. 1  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Legitimacy in IR (Franck, Hurd, Wiener); UNGA as rhetorical arena; contributions and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Ch. 2  Theoretical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889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Habermas’s typology of social action; IR applications (Risse, Müller, Bjola); operationalization of legitimation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Ch. 3 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4747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Two-level analytical design; Harvard UNGDC; criterion-based sampling; coding framework; statistical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Ch. 4  Empirical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Aggregate distribution; comparative case analysis; temporal dynamics (H3); H1 convergence test; geopolitical differentiation (H4)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Ch. 5 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8463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Hypothesis assessment (H1–H4); communicative vs. strategic action in practice; theoretical contributions; limitations; future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5321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Direct answer to the main RQ; what the analysis has established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Coding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Master Architecture: Habermas’s (1984) Four-Type Taxonomy of Social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Habermas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Validity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Communicative Roles (9 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Communicative action
(Verständigung)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3317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317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Justification; Dialogue appeal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Normative action
(Richtigkeit)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1089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Rightness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089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Legal-normative invocation; Sovereignty 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Dramaturgical action
(Wahrhaftigkeit)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886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Sincerity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8862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Historical context; Victim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Strategic action
(success-oriented)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6634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634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Denial; Counter-accusation; Delegitimation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Manual strategy layer (8 types): Self-defense &amp; necessity | Sovereignty &amp; non-interference | Counter-terrorism &amp; securitization | Procedural-legal claims | Historical &amp; existential narratives | Denial &amp; reinterpretation | Whataboutism &amp; tu quoque | Moral &amp; humanitarian framing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Empirical Analysis: Analytical Procedure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5544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102 coded segments × 9 communicative roles × 4 periods × 3 blocs
Keyword density scoring: score(r) = Nᵣ/W × 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9260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Chi-square tests (bloc, period) | Fisher’s exact (pairwise blocs) |
Adjusted residuals | Correspondence analysis | ANOVA + t-tests (H1)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2976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Frequency &amp; co-occurrence distributions | Temporal shift statistics |
Bloc-differentiation p-values | CA biplots | Hypothesis assessments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Sample: 33 case-years | 18 states | 4 periods | 3 geopolitical blocs | 102 segments | 4.9% unclassified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Empirical Findings: Sample Overview (Figure 4.1)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Figure 4.1 — Role Heatmap: Communicative Roles per Case-Year
Grouped by Habermas Action Type and Period
Each row = one case-year (33 total)
Each column = one of 9 communicative roles
Color intensity = keyword density score
Banded background = Habermas action type
Strategic roles (denial, counter-accusation, delegitimation):
absent as dominant mode in every row of the sample</a:t>
            </a:r>
          </a:p>
        </p:txBody>
      </p:sp>
      <p:pic>
        <p:nvPicPr>
          <p:cNvPr id="5" name="Picture 4" descr="fig1_role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68680"/>
            <a:ext cx="6492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Temporal Dynamics — H3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χ²(6) = 21.06, p = .0018, Cramér’s V = .33 (moderate effect)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Cold War (1946–89):       Normative dominant — 64%  |  Communicative: 9%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Post-CW (1990–2001):     Normative still dominant — 57%  |  Communicative rises: 39%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Post-9/11 (2002–13):     Decisive reversal — Communicative surges to 71%  |  Normative: 16%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Post-2014 (frag.):     Partial reversion — Communicative: 59%  |  Normative recovers: 26%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→ September 2001 is a discursive turning point, not a gradual drift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7000"/>
                </a:solidFill>
                <a:latin typeface="Calibri"/>
              </a:rPr>
              <a:t>→ H3 supported</a:t>
            </a:r>
          </a:p>
        </p:txBody>
      </p:sp>
      <p:pic>
        <p:nvPicPr>
          <p:cNvPr id="5" name="Picture 4" descr="fig2_habermas_by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2588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Cross-Bloc Convergence in Counter-Terrorism Framing — H1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ANOVA, pre-2001:   F = 0.39, p = .678 (no inter-bloc differentiation)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ANOVA, post-2001:  F = 1.29, p = .288 (no inter-bloc differentiation)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Within-bloc t-tests (pre vs. post 2001):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  Western:         p &lt; .001 — significant increase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  Soviet/Eastern:  p &lt; .001 — significant increase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  Non-Aligned:     p &lt; .001 — significant increase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→ Counter-terrorism framing became a universal rhetorical commons after September 2001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7000"/>
                </a:solidFill>
                <a:latin typeface="Calibri"/>
              </a:rPr>
              <a:t>→ H1 supported: adoption was cross-bloc, not concentrated in any single bloc</a:t>
            </a:r>
          </a:p>
        </p:txBody>
      </p:sp>
      <p:pic>
        <p:nvPicPr>
          <p:cNvPr id="5" name="Picture 4" descr="fig4_terrorism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25880"/>
            <a:ext cx="5029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Geopolitical Bloc Differentiation — H4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Fisher’s Exact Tests (pairwise, normative action):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Western vs. Soviet/Eastern:  OR = 0.20,  p = .023  ✓ significant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Western vs. Non-Aligned:     OR = 0.14,  p = .003  ✓ significant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Soviet/Eastern vs. NAM:      p = .490   (not significant)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Habermas types by bloc: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Western bloc:         79% communicative (justification) | 12% normative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Soviet/Eastern:       50% communicative | 39% normative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Non-Aligned:          34% communicative | 49% normative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CA: 82.5% of inertia on Dimension 1
  Western bloc ↔ justification role
  Non-Aligned/Soviet ↔ legal-normative, sovereignty-norm roles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7000"/>
                </a:solidFill>
                <a:latin typeface="Calibri"/>
              </a:rPr>
              <a:t>→ H4 supported</a:t>
            </a:r>
          </a:p>
        </p:txBody>
      </p:sp>
      <p:pic>
        <p:nvPicPr>
          <p:cNvPr id="5" name="Picture 4" descr="fig3_fisher_pair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25880"/>
            <a:ext cx="4937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Result 1: Strategic action is absent as a dominant mode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0 of 97 classified segments coded under denial, counter-accusation, or delegitimation
  → The UNGA forum imposes a structural demand for normative performance on every state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Result 2: Counter-terrorism framing is a universal post-9/11 rhetorical commons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ANOVA p &gt; .65 (pre-2001) | p &gt; .28 (post-2001): no bloc-based differentiation
  → UNSC Resolution 1373 created a legitimation resource adopted uniformly across blocs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Result 3: Strategy distribution shifts significantly across historical periods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χ²(6) = 21.06, p = .0018, V = .33: Cold War normative → Post-9/11 communicative surge
  → September 2001 functions as a discursive turning point, not a gradual drift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Result 4: Western–non-Western asymmetry in normative register is measurable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Fisher’s exact: Western vs. NAM p = .003; Western vs. Soviet/Eastern p = .023
  → Structural position — not rhetorical preference — drives the differential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All four hypotheses are supported: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7000"/>
                </a:solidFill>
                <a:latin typeface="Calibri"/>
              </a:rPr>
              <a:t>H1 ✓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Counter-terrorism rhetoric is a cross-bloc ideational common, not bloc-specific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7000"/>
                </a:solidFill>
                <a:latin typeface="Calibri"/>
              </a:rPr>
              <a:t>H2 ✓ (qualified)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Repertoire is legitimation-oriented; dominant register is argumentative (communicative),
  not norm-invoking — states argue rather than simply assert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7000"/>
                </a:solidFill>
                <a:latin typeface="Calibri"/>
              </a:rPr>
              <a:t>H3 ✓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Statistically significant temporal shift (χ² = 21.06, p = .0018, V = .33):
  Post-9/11 communicative surge, partial normative recovery post-2014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7000"/>
                </a:solidFill>
                <a:latin typeface="Calibri"/>
              </a:rPr>
              <a:t>H4 ✓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Western–non-Western asymmetry in normative register reflects structural positions
  in the Charter architecture, not rhetorical preference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What the analysis has established: 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States before the UNGA cannot appear strategically oriented — the forum requires the performance of normative justification regardless of underlying intent.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Value and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Where the findings can be applied: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Diplomatic communication analysis: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Predicting legitimation repertoires by actor bloc and historical period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International law scholarship: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Corpus-based evidence for deliberative legitimacy theory (Bjola 2005; Risse 2000)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IR theory: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Empirical test of Habermasian communicative action claims at institutional scale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Policy analysis: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  Understanding what rhetorical resources states deploy in future contested military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Boundaries of the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UNGA General Debate only — Security Council, bilateral channels, domestic discourse out of scope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Translation constraints for non-English subcorpora may affect keyword precision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33 case-years — adequate for pattern detection; insufficient for precise frequency estimation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H4: Habermas Action Types by Cold War Bloc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Communicative action dominates in all blocs, but at different levels:
Western bloc: 79% communicative | 12% normative
Soviet/Eastern: 50% communicative | 39% normative
Non-Aligned: 34% communicative | 49% normative
chi-sq(4) = 11.99, p = .017, V = .249
(Figure 4.2, thesis p. 36)</a:t>
            </a:r>
          </a:p>
        </p:txBody>
      </p:sp>
      <p:pic>
        <p:nvPicPr>
          <p:cNvPr id="5" name="Picture 4" descr="fig1_habermas_by_b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6492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H4: Adjusted Residuals — Communicative Roles x Bloc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Justification is significantly over-represented in the Western bloc (+3.1*).
Legal-normative and sovereignty-norm are over-represented
in Soviet/Eastern and Non-Aligned blocs.
chi-sq(8) = 14.20, p = .077, V = .271
Cells with |z| &gt;= 1.96 marked with *
(Figure 4.4, thesis p. 39)</a:t>
            </a:r>
          </a:p>
        </p:txBody>
      </p:sp>
      <p:pic>
        <p:nvPicPr>
          <p:cNvPr id="5" name="Picture 4" descr="fig4_adjusted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6492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H4: Correspondence Analysis — Roles x Cold War Blocs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CA decomposes 82.5% of inertia on Dimension 1.
Western bloc (coord. -0.555):
  co-located with justification role (-0.334)
Non-Aligned (+0.350):
  co-located with legal_normative (+0.392)
  and sovereignty_norm (+0.379)
Soviet/Eastern: near origin (+0.028)
(Figure 4.12, thesis p. 163)</a:t>
            </a:r>
          </a:p>
        </p:txBody>
      </p:sp>
      <p:pic>
        <p:nvPicPr>
          <p:cNvPr id="5" name="Picture 4" descr="fig1_ca_roles_by_b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6492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Figure 4.3: Role Distribution by Bloc — Nine Communicative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Bars show the percentage of classified segments assigned
to each communicative role within each Cold War bloc.
Western bloc: dominated by justification (communicative)
Soviet/Eastern: mix of justification and legal-normative
Non-Aligned: strongest legal-normative and sovereignty-norm
Strategic roles (denial, counter-accusation, delegitimation):
absent as dominant mode across all three blocs
(Figure 4.3, thesis p. 37)</a:t>
            </a:r>
          </a:p>
        </p:txBody>
      </p:sp>
      <p:pic>
        <p:nvPicPr>
          <p:cNvPr id="5" name="Picture 4" descr="fig4_roles_by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68680"/>
            <a:ext cx="649224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